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Full-screen consent text; SPACE to continue is the only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 per screen. Numbered choice list. No cross-question progress indicator.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line shows digits typed so far; advance on 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0-7 scale legend, press a number key. Reused for all rating dimensions.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Instructional overview of the three tasks before live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live example of the grid-flash interaction, marked not scored.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live arithmetic example, no timer or leaderboard chrome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live rating example, same 0-7 layout reused verbatim.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Shared centered big-text layout; also used for Get ready and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3x3 grid, one cell flashes bright yellow per trial. Sole focus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Fixation cross shown briefly between blocks; reused in Task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shared centered-text component, Task 2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Video fills ~75pct width / 65pct height centered; no overlay while playing. Placeholder swaps a valence-colored rect with a caption when the real file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Discrete-choice emotion picker, numbered list, mouse-clickable.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Valence, arousal and liking shown together on one screen, each row clickable or number-key answerable.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inter-clip rest screen, background color only, jittered duration.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 progress bar top-center; two lines of calm text ~55pct down. Deliberately sparse.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zones on one screen: top-center countdown bar with HURRY UP in urgent state, top-right leaderboard, center-left active question as the largest text on screen. No dividers, just whitespace.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layout as Consent. Breaks auto-advance on timer; Debrief waits for SPACE.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9346" y="1650683"/>
            <a:ext cx="88550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CONSENT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2095500" y="2206942"/>
            <a:ext cx="14097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429000" y="4125436"/>
            <a:ext cx="117729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73"/>
              </a:lnSpc>
              <a:buNone/>
            </a:pPr>
            <a:r>
              <a:rPr lang="en-US" sz="142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You are being invited to take part in a research study examining physiological signals during emotional, cognitive, and stress-related tasks. Participation is voluntary and you may withdraw at any time without penalty.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3429000" y="4867434"/>
            <a:ext cx="11772900" cy="5991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73"/>
              </a:lnSpc>
              <a:buNone/>
            </a:pPr>
            <a:r>
              <a:rPr lang="en-US" sz="142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During this session you will complete a short questionnaire, view brief instructional screens, and complete three tasks involving image/video viewing, simple arithmetic, and a memory-based attention task, while biosignals (e.g. EEG/EDA/ECG) are recorded.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3429000" y="5609431"/>
            <a:ext cx="11772900" cy="5991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73"/>
              </a:lnSpc>
              <a:buNone/>
            </a:pPr>
            <a:r>
              <a:rPr lang="en-US" sz="142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There are no known risks beyond those of everyday computer use. All data will be de-identified and stored securely. You may take breaks between tasks.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3429000" y="6437154"/>
            <a:ext cx="12573000" cy="31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473"/>
              </a:lnSpc>
              <a:buNone/>
            </a:pPr>
            <a:r>
              <a:rPr lang="en-US" sz="1425" b="1" spc="57" kern="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PRESS SPACE TO CONTINUE</a:t>
            </a:r>
            <a:endParaRPr lang="en-US" sz="14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83671" y="1650683"/>
            <a:ext cx="299272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QUESTIONNAIRE — CHOICE LIST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81445" y="4038600"/>
            <a:ext cx="585744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would you describe your current mood?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363426" y="4671060"/>
            <a:ext cx="16373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Very negative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363426" y="5124450"/>
            <a:ext cx="16373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Negative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363426" y="5577840"/>
            <a:ext cx="16373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Neutral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363426" y="6031230"/>
            <a:ext cx="16373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Positive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63426" y="6484620"/>
            <a:ext cx="1637347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Very positive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4921" y="1650683"/>
            <a:ext cx="334197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QUESTIONNAIRE — NUMERIC ENTRY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211888" y="4865370"/>
            <a:ext cx="6450473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Please enter your age in years, then press ENTER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10575" y="5497830"/>
            <a:ext cx="1613535" cy="518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spc="330" kern="0" dirty="0">
                <a:solidFill>
                  <a:srgbClr val="EEF0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5 _</a:t>
            </a:r>
            <a:endParaRPr lang="en-US" sz="3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8920" y="1650683"/>
            <a:ext cx="280517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QUESTIONNAIRE — 0–7 SCALE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983730" y="4678680"/>
            <a:ext cx="4752419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stressed do you feel right now?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79807" y="5394960"/>
            <a:ext cx="61658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at all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77259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4973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7457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5171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7655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369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7853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567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8051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765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78249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963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38447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161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98645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6359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88432" y="5394960"/>
            <a:ext cx="69580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extremely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582059" y="5989320"/>
            <a:ext cx="343609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Press a number key, or click a box, to respond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7148" y="1650683"/>
            <a:ext cx="327107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FAMILIARIZATION — INSTRUCTIONS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022340" y="4672013"/>
            <a:ext cx="6867652" cy="350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Before we begin, here's what each task looks like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408111" y="5193982"/>
            <a:ext cx="5471619" cy="36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2679"/>
              </a:lnSpc>
              <a:buNone/>
            </a:pPr>
            <a:r>
              <a:rPr lang="en-US" sz="142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Attention — watch a flashing grid and respond when a cell repeats</a:t>
            </a:r>
            <a:endParaRPr lang="en-US" sz="1425" dirty="0"/>
          </a:p>
        </p:txBody>
      </p:sp>
      <p:sp>
        <p:nvSpPr>
          <p:cNvPr id="6" name="Text 4"/>
          <p:cNvSpPr/>
          <p:nvPr/>
        </p:nvSpPr>
        <p:spPr>
          <a:xfrm>
            <a:off x="6408111" y="5519738"/>
            <a:ext cx="5471619" cy="36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2679"/>
              </a:lnSpc>
              <a:buNone/>
            </a:pPr>
            <a:r>
              <a:rPr lang="en-US" sz="142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Emotion — watch a short clip, then rate how it made you feel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6408111" y="5845493"/>
            <a:ext cx="5471619" cy="3638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2679"/>
              </a:lnSpc>
              <a:buNone/>
            </a:pPr>
            <a:r>
              <a:rPr lang="en-US" sz="142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Stress — answer arithmetic questions against the clock</a:t>
            </a:r>
            <a:endParaRPr lang="en-US" sz="14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5844" y="1650683"/>
            <a:ext cx="386794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FAMILIARIZATION — ATTENTION EXAMPLE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296150" y="337185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337185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8850" y="337185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96150" y="464820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2500" y="464820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F0C845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850" y="464820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6150" y="592455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2500" y="592455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48850" y="592455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3079" y="7296150"/>
            <a:ext cx="224602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(example — not a scored trial)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1711" y="1650683"/>
            <a:ext cx="396503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FAMILIARIZATION — ARITHMETIC EXAMPLE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114348" y="4956810"/>
            <a:ext cx="2265236" cy="56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+ 7 = _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174071" y="5711190"/>
            <a:ext cx="433366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(example — no timer or leaderboard during familiarization)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43483" y="1650683"/>
            <a:ext cx="352113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FAMILIARIZATION — RATING EXAMPLE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169150" y="4678680"/>
            <a:ext cx="4344495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Example: how pleasant was that?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6079807" y="5394960"/>
            <a:ext cx="616585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at all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77259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4973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7457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5171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7655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369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7853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5567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8051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5765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782492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9632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038447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6161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986453" y="5253990"/>
            <a:ext cx="449580" cy="449580"/>
          </a:xfrm>
          <a:prstGeom prst="roundRect">
            <a:avLst>
              <a:gd name="adj" fmla="val 12712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63593" y="5269230"/>
            <a:ext cx="4953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588432" y="5394960"/>
            <a:ext cx="695801" cy="205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extremely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8030051" y="5989320"/>
            <a:ext cx="2450687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(example — number key or click)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80287" y="1650683"/>
            <a:ext cx="3880168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 — ATTENTION: INTRO / CUE / REST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289482" y="5212080"/>
            <a:ext cx="407993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86" kern="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1: ATTENTION</a:t>
            </a:r>
            <a:endParaRPr lang="en-US" sz="2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6744" y="1650683"/>
            <a:ext cx="1995964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 — GRID TRIAL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296150" y="357378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72500" y="357378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48850" y="357378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96150" y="485013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2500" y="485013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48850" y="485013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96150" y="612648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2500" y="612648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F0C845"/>
          </a:solidFill>
          <a:ln w="15240">
            <a:solidFill>
              <a:srgbClr val="5A60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48850" y="6126480"/>
            <a:ext cx="1143000" cy="1143000"/>
          </a:xfrm>
          <a:prstGeom prst="roundRect">
            <a:avLst>
              <a:gd name="adj" fmla="val 1667"/>
            </a:avLst>
          </a:prstGeom>
          <a:solidFill>
            <a:srgbClr val="383E44"/>
          </a:solidFill>
          <a:ln w="15240">
            <a:solidFill>
              <a:srgbClr val="5A606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2271" y="1650683"/>
            <a:ext cx="248980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1 — FIXATION CROSS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838088" y="4819650"/>
            <a:ext cx="688023" cy="1242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+</a:t>
            </a:r>
            <a:endParaRPr lang="en-US" sz="8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14970" y="1650683"/>
            <a:ext cx="248369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 — EMOTION: INTRO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477919" y="5212080"/>
            <a:ext cx="3665379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spc="86" kern="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2: EMOTION</a:t>
            </a:r>
            <a:endParaRPr lang="en-US" sz="2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37768" y="1650683"/>
            <a:ext cx="353371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 — CLIP (PLACEHOLDER MODE)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57750" y="3332004"/>
            <a:ext cx="8572500" cy="4179094"/>
          </a:xfrm>
          <a:prstGeom prst="roundRect">
            <a:avLst>
              <a:gd name="adj" fmla="val 456"/>
            </a:avLst>
          </a:prstGeom>
          <a:solidFill>
            <a:srgbClr val="3F8F74"/>
          </a:solidFill>
          <a:ln/>
        </p:spPr>
      </p:sp>
      <p:sp>
        <p:nvSpPr>
          <p:cNvPr id="5" name="Text 3"/>
          <p:cNvSpPr/>
          <p:nvPr/>
        </p:nvSpPr>
        <p:spPr>
          <a:xfrm>
            <a:off x="6446520" y="7202488"/>
            <a:ext cx="556481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2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clip_07.mp4 — placeholder (negative valence / high arousal)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89570" y="1650683"/>
            <a:ext cx="253957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 — EMOTION PICKER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004209" y="3585210"/>
            <a:ext cx="4707366" cy="327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Which best describes what you felt?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503285" y="421767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Happiness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503285" y="467106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Sadness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03285" y="512445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Anger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03285" y="557784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Fear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503285" y="603123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Disgust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503285" y="648462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Surprise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503285" y="6938010"/>
            <a:ext cx="1357471" cy="2819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Neutral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8713" y="1650683"/>
            <a:ext cx="3663632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 — VALENCE / AROUSAL / LIKING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936581" y="4061460"/>
            <a:ext cx="4856147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pleasant or unpleasant did you feel? (Valence)</a:t>
            </a:r>
            <a:endParaRPr lang="en-US" sz="1425" dirty="0"/>
          </a:p>
        </p:txBody>
      </p:sp>
      <p:sp>
        <p:nvSpPr>
          <p:cNvPr id="5" name="Text 3"/>
          <p:cNvSpPr/>
          <p:nvPr/>
        </p:nvSpPr>
        <p:spPr>
          <a:xfrm>
            <a:off x="6709728" y="4455795"/>
            <a:ext cx="5445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at all</a:t>
            </a:r>
            <a:endParaRPr lang="en-US" sz="975" dirty="0"/>
          </a:p>
        </p:txBody>
      </p:sp>
      <p:sp>
        <p:nvSpPr>
          <p:cNvPr id="6" name="Shape 4"/>
          <p:cNvSpPr/>
          <p:nvPr/>
        </p:nvSpPr>
        <p:spPr>
          <a:xfrm>
            <a:off x="729234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6948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6097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3811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0674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9823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537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6686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3549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263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10412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8126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572750" y="435102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49890" y="436626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041380" y="4455795"/>
            <a:ext cx="61309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extremely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263289" y="4914900"/>
            <a:ext cx="4137390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calm or excited did you feel? (Arousal)</a:t>
            </a:r>
            <a:endParaRPr lang="en-US" sz="1425" dirty="0"/>
          </a:p>
        </p:txBody>
      </p:sp>
      <p:sp>
        <p:nvSpPr>
          <p:cNvPr id="24" name="Text 22"/>
          <p:cNvSpPr/>
          <p:nvPr/>
        </p:nvSpPr>
        <p:spPr>
          <a:xfrm>
            <a:off x="6709728" y="5309235"/>
            <a:ext cx="5445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at all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729234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6948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6097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3811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0674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69823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7537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6686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963549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1263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10412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8126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572750" y="520446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549890" y="52197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1041380" y="5309235"/>
            <a:ext cx="61309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extremely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7389336" y="5768340"/>
            <a:ext cx="3860086" cy="251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How much did you like this clip? (Liking)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6709728" y="6162675"/>
            <a:ext cx="54451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not at all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729234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948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76097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73811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22960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0674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69823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7537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16686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14400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63549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61263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1010412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8126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10572750" y="6057900"/>
            <a:ext cx="354330" cy="354330"/>
          </a:xfrm>
          <a:prstGeom prst="roundRect">
            <a:avLst>
              <a:gd name="adj" fmla="val 13441"/>
            </a:avLst>
          </a:prstGeom>
          <a:ln w="15240">
            <a:solidFill>
              <a:srgbClr val="5A60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49890" y="607314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11041380" y="6162675"/>
            <a:ext cx="613093" cy="182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extremely</a:t>
            </a:r>
            <a:endParaRPr lang="en-US" sz="975" dirty="0"/>
          </a:p>
        </p:txBody>
      </p:sp>
      <p:sp>
        <p:nvSpPr>
          <p:cNvPr id="61" name="Text 59"/>
          <p:cNvSpPr/>
          <p:nvPr/>
        </p:nvSpPr>
        <p:spPr>
          <a:xfrm>
            <a:off x="7389019" y="6621780"/>
            <a:ext cx="3860784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909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Click a box, or press a number key, on each row to respond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1809" y="1650683"/>
            <a:ext cx="2248821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2 — REST (BLANK)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12250" y="5311140"/>
            <a:ext cx="139700" cy="25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A606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8607" y="1650683"/>
            <a:ext cx="2717863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3 — STRESS: BASELINE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286500" y="2549843"/>
            <a:ext cx="5715000" cy="133350"/>
          </a:xfrm>
          <a:prstGeom prst="roundRect">
            <a:avLst>
              <a:gd name="adj" fmla="val 50000"/>
            </a:avLst>
          </a:prstGeom>
          <a:solidFill>
            <a:srgbClr val="3A3F45"/>
          </a:solidFill>
          <a:ln/>
        </p:spPr>
      </p:sp>
      <p:sp>
        <p:nvSpPr>
          <p:cNvPr id="5" name="Shape 3"/>
          <p:cNvSpPr/>
          <p:nvPr/>
        </p:nvSpPr>
        <p:spPr>
          <a:xfrm>
            <a:off x="6286500" y="2549843"/>
            <a:ext cx="3543300" cy="133350"/>
          </a:xfrm>
          <a:prstGeom prst="rect">
            <a:avLst/>
          </a:prstGeom>
          <a:solidFill>
            <a:srgbClr val="4FD1A5"/>
          </a:solidFill>
          <a:ln/>
        </p:spPr>
      </p:sp>
      <p:sp>
        <p:nvSpPr>
          <p:cNvPr id="6" name="Text 4"/>
          <p:cNvSpPr/>
          <p:nvPr/>
        </p:nvSpPr>
        <p:spPr>
          <a:xfrm>
            <a:off x="6636370" y="5386864"/>
            <a:ext cx="5015419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6094"/>
              </a:lnSpc>
              <a:buNone/>
            </a:pPr>
            <a:r>
              <a:rPr lang="en-US" sz="16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Baseline: please sit quietly and relax.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36370" y="5743099"/>
            <a:ext cx="5015419" cy="394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6094"/>
              </a:lnSpc>
              <a:buNone/>
            </a:pPr>
            <a:r>
              <a:rPr lang="en-US" sz="16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next phase begins when the bar below runs out.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786" y="1650683"/>
            <a:ext cx="2924270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TASK 3 — STRESS: ARITHMETIC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429000" y="2206942"/>
            <a:ext cx="11430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24750" y="2511743"/>
            <a:ext cx="3238500" cy="190500"/>
          </a:xfrm>
          <a:prstGeom prst="roundRect">
            <a:avLst>
              <a:gd name="adj" fmla="val 50000"/>
            </a:avLst>
          </a:prstGeom>
          <a:solidFill>
            <a:srgbClr val="3A3F45"/>
          </a:solidFill>
          <a:ln/>
        </p:spPr>
      </p:sp>
      <p:sp>
        <p:nvSpPr>
          <p:cNvPr id="5" name="Shape 3"/>
          <p:cNvSpPr/>
          <p:nvPr/>
        </p:nvSpPr>
        <p:spPr>
          <a:xfrm>
            <a:off x="7524750" y="2511743"/>
            <a:ext cx="712470" cy="190500"/>
          </a:xfrm>
          <a:prstGeom prst="rect">
            <a:avLst/>
          </a:prstGeom>
          <a:solidFill>
            <a:srgbClr val="E8623A"/>
          </a:solidFill>
          <a:ln/>
        </p:spPr>
      </p:sp>
      <p:sp>
        <p:nvSpPr>
          <p:cNvPr id="6" name="Text 4"/>
          <p:cNvSpPr/>
          <p:nvPr/>
        </p:nvSpPr>
        <p:spPr>
          <a:xfrm>
            <a:off x="8632349" y="2816543"/>
            <a:ext cx="1099502" cy="236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68" kern="0" dirty="0">
                <a:solidFill>
                  <a:srgbClr val="E862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HURRY UP!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10287000" y="4650105"/>
            <a:ext cx="3429000" cy="1607344"/>
          </a:xfrm>
          <a:prstGeom prst="roundRect">
            <a:avLst>
              <a:gd name="adj" fmla="val 2370"/>
            </a:avLst>
          </a:prstGeom>
          <a:ln w="7620">
            <a:solidFill>
              <a:srgbClr val="5A6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66070" y="4791075"/>
            <a:ext cx="3377946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60" kern="0" dirty="0">
                <a:solidFill>
                  <a:srgbClr val="D9A44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LEADERBOARD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66070" y="5061585"/>
            <a:ext cx="45386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J.K.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3314521" y="5061585"/>
            <a:ext cx="2986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980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466070" y="5259705"/>
            <a:ext cx="461328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R.T.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314521" y="5259705"/>
            <a:ext cx="2986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910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466070" y="5457825"/>
            <a:ext cx="49831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M.S.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314521" y="5457825"/>
            <a:ext cx="2986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875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466070" y="5655945"/>
            <a:ext cx="458946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A.P.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3314521" y="5655945"/>
            <a:ext cx="2986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840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466070" y="5854065"/>
            <a:ext cx="449262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You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314521" y="5854065"/>
            <a:ext cx="298609" cy="198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4E7E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790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0" y="5550218"/>
            <a:ext cx="2756805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F959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0" y="5782627"/>
            <a:ext cx="2756805" cy="6172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45 − 12 = 3</a:t>
            </a:r>
            <a:endParaRPr lang="en-US" sz="3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06130" y="1650683"/>
            <a:ext cx="1623139" cy="213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72" kern="0" dirty="0">
                <a:solidFill>
                  <a:srgbClr val="7B82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BREAK / DEBRIEF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905000" y="2206942"/>
            <a:ext cx="14478000" cy="6429375"/>
          </a:xfrm>
          <a:prstGeom prst="roundRect">
            <a:avLst>
              <a:gd name="adj" fmla="val 889"/>
            </a:avLst>
          </a:prstGeom>
          <a:solidFill>
            <a:srgbClr val="202428"/>
          </a:solidFill>
          <a:ln/>
          <a:effectLst>
            <a:outerShdw sx="100000" sy="100000" kx="0" ky="0" algn="bl" rotWithShape="0" blurRad="381000" dist="114300" dir="5400000">
              <a:srgbClr val="141414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20268" y="4987290"/>
            <a:ext cx="10447464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484"/>
              </a:lnSpc>
              <a:buNone/>
            </a:pPr>
            <a:r>
              <a:rPr lang="en-US" sz="1575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Great work. Please take a short break.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4252687" y="5535930"/>
            <a:ext cx="9782626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484"/>
              </a:lnSpc>
              <a:buNone/>
            </a:pPr>
            <a:r>
              <a:rPr lang="en-US" sz="1575" b="1" dirty="0">
                <a:solidFill>
                  <a:srgbClr val="EEF0F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(auto-advances in a few seconds — debrief screen instead ends with PRESS SPACE TO CONTINUE)</a:t>
            </a:r>
            <a:endParaRPr lang="en-US" sz="15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2026-07-30T03:06:01Z</dcterms:created>
  <dcterms:modified xsi:type="dcterms:W3CDTF">2026-07-30T03:06:01Z</dcterms:modified>
</cp:coreProperties>
</file>